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6800" b="1">
                <a:solidFill>
                  <a:srgbClr val="FFFFFF"/>
                </a:solidFill>
                <a:latin typeface="Segoe UI"/>
              </a:rPr>
              <a:t>LISA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33272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000" b="0">
                <a:solidFill>
                  <a:srgbClr val="E5F1FB"/>
                </a:solidFill>
                <a:latin typeface="Segoe UI"/>
              </a:rPr>
              <a:t>AI-Powered Linux Quality at Microsoft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20440"/>
            <a:ext cx="1463040" cy="54864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Connecting any AI assistant to Microsoft's LISA testing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egoe UI"/>
              </a:rPr>
              <a:t>via the Model Context Protocol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5F1FB"/>
                </a:solidFill>
                <a:latin typeface="Segoe UI"/>
              </a:rPr>
              <a:t>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Linux testing at scale is slow, manual, and tribal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1556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800">
                <a:solidFill>
                  <a:srgbClr val="323130"/>
                </a:solidFill>
                <a:latin typeface="Segoe UI"/>
              </a:rPr>
              <a:t>Microsoft validates hundreds of Linux distributions across Azure, Hyper-V, and bare metal.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800">
                <a:solidFill>
                  <a:srgbClr val="323130"/>
                </a:solidFill>
                <a:latin typeface="Segoe UI"/>
              </a:rPr>
              <a:t>Engineers spend hours searching test cases, writing YAML, and triaging failures by hand.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800">
                <a:solidFill>
                  <a:srgbClr val="323130"/>
                </a:solidFill>
                <a:latin typeface="Segoe UI"/>
              </a:rPr>
              <a:t>Critical knowledge lives in senior engineers' heads — onboarding takes weeks.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800">
                <a:solidFill>
                  <a:srgbClr val="323130"/>
                </a:solidFill>
                <a:latin typeface="Segoe UI"/>
              </a:rPr>
              <a:t>Failure analysis is artisanal: grep logs → read stack traces → guess root cause.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8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800">
                <a:solidFill>
                  <a:srgbClr val="323130"/>
                </a:solidFill>
                <a:latin typeface="Segoe UI"/>
              </a:rPr>
              <a:t>CI/CD pipelines fail silently — no one knows why until someone investigates.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212080"/>
            <a:ext cx="11155680" cy="82296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60704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004578"/>
                </a:solidFill>
                <a:latin typeface="Segoe UI"/>
              </a:rPr>
              <a:t>Outcome:  slower releases · missed regressions · engineer burnout · partner 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The Solution — LISA MCP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One sentence in. Validated results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1064240" cy="2468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10881360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DCDCDC"/>
                </a:solidFill>
                <a:latin typeface="Consolas"/>
              </a:rPr>
              <a:t>Engineer: "Run all Tier-0 network tests on Ubuntu 24.04 for Azure</a:t>
            </a:r>
          </a:p>
          <a:p>
            <a:r>
              <a:rPr sz="1300">
                <a:solidFill>
                  <a:srgbClr val="DCDCDC"/>
                </a:solidFill>
                <a:latin typeface="Consolas"/>
              </a:rPr>
              <a:t>           and tell me why anything failed."</a:t>
            </a:r>
          </a:p>
          <a:p>
            <a:r>
              <a:rPr sz="13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300">
                <a:solidFill>
                  <a:srgbClr val="DCDCDC"/>
                </a:solidFill>
                <a:latin typeface="Consolas"/>
              </a:rPr>
              <a:t>AI Agent: 47 of 49 tests passed.</a:t>
            </a:r>
          </a:p>
          <a:p>
            <a:r>
              <a:rPr sz="1300">
                <a:solidFill>
                  <a:srgbClr val="DCDCDC"/>
                </a:solidFill>
                <a:latin typeface="Consolas"/>
              </a:rPr>
              <a:t>          2 failed — root cause: MTU misconfiguration</a:t>
            </a:r>
          </a:p>
          <a:p>
            <a:r>
              <a:rPr sz="1300">
                <a:solidFill>
                  <a:srgbClr val="DCDCDC"/>
                </a:solidFill>
                <a:latin typeface="Consolas"/>
              </a:rPr>
              <a:t>             after kernel 6.8 update. Recommended fix: ...</a:t>
            </a:r>
          </a:p>
          <a:p>
            <a:r>
              <a:rPr sz="1300">
                <a:solidFill>
                  <a:srgbClr val="DCDCDC"/>
                </a:solidFill>
                <a:latin typeface="Consolas"/>
              </a:rPr>
              <a:t>          HTML + Markdown report saved.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>
                <a:solidFill>
                  <a:srgbClr val="323130"/>
                </a:solidFill>
                <a:latin typeface="Segoe UI"/>
              </a:rPr>
              <a:t>A Model Context Protocol server exposing 18 LISA tools to any AI client — GitHub Copilot, VS Code, Claude, or any future MCP-compatible assistant.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Why MCP? The Universal AI ↔ Tool Standard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Before (custom integrations)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With MCP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Compatibility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One AI client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Any MCP-compatible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Maintenance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N × M integrations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One server, M clients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Ecosystem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Isolated bespoke tooling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Composable with all MCP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Future-proof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Rewrite for every new client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Open standard, accelerating adoption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28016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>
                <a:solidFill>
                  <a:srgbClr val="004578"/>
                </a:solidFill>
                <a:latin typeface="Segoe UI"/>
              </a:rPr>
              <a:t>MCP is the USB-C for AI tools — plug any AI into any capability.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6984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0">
                <a:solidFill>
                  <a:srgbClr val="323130"/>
                </a:solidFill>
                <a:latin typeface="Segoe UI"/>
              </a:rPr>
              <a:t>Built on MCP = zero rewrite when the next AI assistant arrives.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What's Inside — 18 AI-Powered Tools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1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Tools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discover_test_cases · list_test_areas · search_tests · get_test_case_details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Generation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generate_test_suite_code · build_runbook · build_tier_runbook_file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validate_runbook_file · add_test_to_existing_runbook · check_lisa_environment · get_tier_info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Execution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run_lisa_tests · parse_test_results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70104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AI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analyze_test_run_with_llm · analyze_failure_root_cause · generate_analysis_report · run_and_analyze · list_llm_providers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Each tool callable in natural language — no CLI flags, no YAML hand-editing, no log grepping.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Live Demo — Verified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532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Segoe UI"/>
              </a:rPr>
              <a:t>1. Server boots — all 18 tools registered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532120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5349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CDCDC"/>
                </a:solidFill>
                <a:latin typeface="Consolas"/>
              </a:rPr>
              <a:t>$ python -m lisa_mcp.server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Server : lisa-mcp-server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Tools  :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88920"/>
            <a:ext cx="5532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Segoe UI"/>
              </a:rPr>
              <a:t>2. Build &amp; validate an Azure T1 runbook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532120" cy="1417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273552"/>
            <a:ext cx="534924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CDCDC"/>
                </a:solidFill>
                <a:latin typeface="Consolas"/>
              </a:rPr>
              <a:t>build_tier_runbook(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  tier="T1", platform_type="azure",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  image="ubuntu jammy 22.04-lts")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# valid: True · platform: azure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5532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Segoe UI"/>
              </a:rPr>
              <a:t>3. Generate a brand-new test suite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600200"/>
            <a:ext cx="5532120" cy="1417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73352"/>
            <a:ext cx="5349240" cy="1271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CDCDC"/>
                </a:solidFill>
                <a:latin typeface="Consolas"/>
              </a:rPr>
              <a:t>generate_test_suite(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  suite_class_name="DemoNvmeThroughput",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  area="storage", category="performance", ...)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# 61 lines of LISA-compliant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54680"/>
            <a:ext cx="55321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78D4"/>
                </a:solidFill>
                <a:latin typeface="Segoe UI"/>
              </a:rPr>
              <a:t>4. Parse &amp; summarize JUnit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3566160"/>
            <a:ext cx="5532120" cy="1051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639312"/>
            <a:ext cx="5349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DCDCDC"/>
                </a:solidFill>
                <a:latin typeface="Consolas"/>
              </a:rPr>
              <a:t>parse_test_results("results.xml")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# Total · Passed · Failed · Duration</a:t>
            </a:r>
          </a:p>
          <a:p>
            <a:r>
              <a:rPr sz="1200">
                <a:solidFill>
                  <a:srgbClr val="DCDCDC"/>
                </a:solidFill>
                <a:latin typeface="Consolas"/>
              </a:rPr>
              <a:t># (ready for LLM root-cause analysis)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937760"/>
            <a:ext cx="11430000" cy="118872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4578"/>
                </a:solidFill>
                <a:latin typeface="Segoe UI"/>
              </a:rPr>
              <a:t>Demo artifacts produced on the engineer's laptop in seconds: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97280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323130"/>
                </a:solidFill>
                <a:latin typeface="Segoe UI"/>
              </a:rPr>
              <a:t>azure_t1_demo.yml  ·  demo_nvme_throughput.py  ·  fake_results.xml  ·  demo_transcript.txt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Impact Inside Microsoft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Speed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09728" cy="822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528523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3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29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4578"/>
                </a:solidFill>
                <a:latin typeface="Segoe UI"/>
              </a:rPr>
              <a:t>100×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23130"/>
                </a:solidFill>
                <a:latin typeface="Segoe UI"/>
              </a:rPr>
              <a:t>test discovery (10 min → 10 sec)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109728" cy="822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606040"/>
            <a:ext cx="528523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3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5029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4578"/>
                </a:solidFill>
                <a:latin typeface="Segoe UI"/>
              </a:rPr>
              <a:t>30 min → 1 sentence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23130"/>
                </a:solidFill>
                <a:latin typeface="Segoe UI"/>
              </a:rPr>
              <a:t>runbook authoring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20440"/>
            <a:ext cx="109728" cy="8229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20440"/>
            <a:ext cx="528523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3F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502920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4578"/>
                </a:solidFill>
                <a:latin typeface="Segoe UI"/>
              </a:rPr>
              <a:t>2 hrs → 30 sec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50292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23130"/>
                </a:solidFill>
                <a:latin typeface="Segoe UI"/>
              </a:rPr>
              <a:t>failure triage with AI root cause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>
                <a:solidFill>
                  <a:srgbClr val="0078D4"/>
                </a:solidFill>
                <a:latin typeface="Segoe UI"/>
              </a:rPr>
              <a:t>Quality, People,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69164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500">
                <a:solidFill>
                  <a:srgbClr val="323130"/>
                </a:solidFill>
                <a:latin typeface="Segoe UI"/>
              </a:rPr>
              <a:t>New engineers productive on Day 1 (not Week 3).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500">
                <a:solidFill>
                  <a:srgbClr val="323130"/>
                </a:solidFill>
                <a:latin typeface="Segoe UI"/>
              </a:rPr>
              <a:t>Senior engineers freed from repetitive triage.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500">
                <a:solidFill>
                  <a:srgbClr val="323130"/>
                </a:solidFill>
                <a:latin typeface="Segoe UI"/>
              </a:rPr>
              <a:t>Every PR can run tier-appropriate tests without CI/CD expertise.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500">
                <a:solidFill>
                  <a:srgbClr val="323130"/>
                </a:solidFill>
                <a:latin typeface="Segoe UI"/>
              </a:rPr>
              <a:t>AI surfaces regression patterns humans miss.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500">
                <a:solidFill>
                  <a:srgbClr val="323130"/>
                </a:solidFill>
                <a:latin typeface="Segoe UI"/>
              </a:rPr>
              <a:t>Consistent coverage across all Linux distros.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500">
                <a:solidFill>
                  <a:srgbClr val="323130"/>
                </a:solidFill>
                <a:latin typeface="Segoe UI"/>
              </a:rPr>
              <a:t>Fewer escaped bugs · lower onboarding cost.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Impact Outside Microsoft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64592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Open Source &amp;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LISA is already open source — this makes it accessible to everyone.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Linux distro maintainers can validate Azure / Hyper-V compatibility instantly.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Partners (Canonical, Red Hat, SUSE) can self-serve test validation.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64592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Enterprise Adoption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Any company running Linux on Azure benefits from the same framework.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ISVs can validate their workloads against Azure infrastructure.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Reduces support tickets by catching issues pre-deployment.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164592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Industry Leadership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Positions Microsoft as the leader in AI-augmented DevOps.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Reference architecture for AI-powered testing in any domain.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Demonstrates MCP as a viable enterprise standard.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Architecture — Simple, Extensible, Local-First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11064240" cy="1005840"/>
          </a:xfrm>
          <a:prstGeom prst="rect">
            <a:avLst/>
          </a:prstGeom>
          <a:solidFill>
            <a:srgbClr val="E5F1FB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4578"/>
                </a:solidFill>
                <a:latin typeface="Segoe UI"/>
              </a:rPr>
              <a:t>AI Clients (MCP Protocol)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323130"/>
                </a:solidFill>
                <a:latin typeface="Segoe UI"/>
              </a:rPr>
              <a:t>GitHub Copilot   ·   VS Code   ·   Claude   ·   Any MCP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323130"/>
                </a:solidFill>
                <a:latin typeface="Segoe UI"/>
              </a:rPr>
              <a:t>stdio  /  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11064240" cy="1783080"/>
          </a:xfrm>
          <a:prstGeom prst="rect">
            <a:avLst/>
          </a:prstGeom>
          <a:solidFill>
            <a:srgbClr val="0078D4"/>
          </a:solidFill>
          <a:ln>
            <a:solidFill>
              <a:srgbClr val="0045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LISA MCP Server (Python)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16916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Discovery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324612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246120"/>
            <a:ext cx="16916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Generator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24612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3246120"/>
            <a:ext cx="16916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Runbook</a:t>
            </a:r>
          </a:p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89320" y="324612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246120"/>
            <a:ext cx="16916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Test</a:t>
            </a:r>
          </a:p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Runner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80" y="324612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3246120"/>
            <a:ext cx="16916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Parser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3246120"/>
            <a:ext cx="169164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3246120"/>
            <a:ext cx="1691640" cy="11430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LLM</a:t>
            </a:r>
          </a:p>
          <a:p>
            <a:pPr algn="ctr"/>
            <a:r>
              <a:rPr sz="1400" b="1">
                <a:solidFill>
                  <a:srgbClr val="004578"/>
                </a:solidFill>
                <a:latin typeface="Segoe UI"/>
              </a:rPr>
              <a:t>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solidFill>
            <a:srgbClr val="F3F2F1"/>
          </a:solidFill>
          <a:ln>
            <a:solidFill>
              <a:srgbClr val="007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004578"/>
                </a:solidFill>
                <a:latin typeface="Segoe UI"/>
              </a:rPr>
              <a:t>Microsoft LISA Framework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>
                <a:solidFill>
                  <a:srgbClr val="323130"/>
                </a:solidFill>
                <a:latin typeface="Segoe UI"/>
              </a:rPr>
              <a:t>500+ test suites   ·   multi-platform   ·   tier-based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0078D4"/>
                </a:solidFill>
                <a:latin typeface="Segoe UI"/>
              </a:rPr>
              <a:t>Local-first  ·  No infra  ·  Multi-LLM (Azure OpenAI · OpenAI · Ollama · LM Studio · Foundry)  ·  Open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Before &amp; After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67926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Workflow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Before (manual)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With LISA MCP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Find relevant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Grep Python files, read docstrings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"Show network tests for RHEL 9"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Create test config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Hand-write 100+ line YAML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"Build a T1 runbook for Azure"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Write new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Copy-paste boilerplate, read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"Generate an NVMe throughput test"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Understand failures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Read JUnit + logs manually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"Why did my storage tests fail?"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679268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Onboard new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Two-week shadowing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"How do I test kernel 6.x on Hyper-V?"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927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Executive reporting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Manual spreadsheet compilation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23130"/>
                          </a:solidFill>
                          <a:latin typeface="Segoe UI"/>
                        </a:rPr>
                        <a:t>Auto-generated HTML / Markdown report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Real-World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37160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4578"/>
                </a:solidFill>
                <a:latin typeface="Segoe UI"/>
              </a:rPr>
              <a:t>A — Nightly CI/CD failure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0078D4"/>
                </a:solidFill>
                <a:latin typeface="Segoe UI"/>
              </a:rPr>
              <a:t>"Analyze the failures from last night's T2 run."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23130"/>
                </a:solidFill>
                <a:latin typeface="Segoe UI"/>
              </a:rPr>
              <a:t>AI: 3 failures — MTU mismatch after kernel update (critical), fio timeout on D4s_v3 (medium), known hugepage flake (low). Recommended fixes attached.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114300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37160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4578"/>
                </a:solidFill>
                <a:latin typeface="Segoe UI"/>
              </a:rPr>
              <a:t>B — New distro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0078D4"/>
                </a:solidFill>
                <a:latin typeface="Segoe UI"/>
              </a:rPr>
              <a:t>"We need to validate Mariner 3.0 for Azure — what tests should we run?"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23130"/>
                </a:solidFill>
                <a:latin typeface="Segoe UI"/>
              </a:rPr>
              <a:t>AI: 127 applicable tests across 8 areas. T0+T1 runbook built. Execute now?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143000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E5F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480560"/>
            <a:ext cx="137160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004578"/>
                </a:solidFill>
                <a:latin typeface="Segoe UI"/>
              </a:rPr>
              <a:t>C — Partner enablement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>
                <a:solidFill>
                  <a:srgbClr val="0078D4"/>
                </a:solidFill>
                <a:latin typeface="Segoe UI"/>
              </a:rPr>
              <a:t>"Does Ubuntu 24.10 pass Azure network certification?"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972800" cy="594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>
                <a:solidFill>
                  <a:srgbClr val="323130"/>
                </a:solidFill>
                <a:latin typeface="Segoe UI"/>
              </a:rPr>
              <a:t>AI: 45 of 47 passed, 2 warnings (non-blocking). Full report attached.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Strategic Advantage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Without LISA MCP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With LISA MCP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Time to validate a new Linux kernel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2–3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2–3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Engineer expertise required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Senior (3+ yrs LISA)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Any level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Cross-team collaboration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Email chains + meetings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Shared AI 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Partner self-service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Not possible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Fully enabled</a:t>
                      </a:r>
                    </a:p>
                  </a:txBody>
                  <a:tcPr>
                    <a:solidFill>
                      <a:srgbClr val="F3F2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AI integration maturity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Scripts &amp; chatbots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23130"/>
                          </a:solidFill>
                          <a:latin typeface="Segoe UI"/>
                        </a:rPr>
                        <a:t>Native MCP standard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937760"/>
            <a:ext cx="11247120" cy="100584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69848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004578"/>
                </a:solidFill>
                <a:latin typeface="Segoe UI"/>
              </a:rPr>
              <a:t>Bottom line:  ship Linux support faster, with higher quality, using fewer senior-engineer hours.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Getting Started — 3 Minutes to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1064240" cy="2194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1088136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DCDCDC"/>
                </a:solidFill>
                <a:latin typeface="Consolas"/>
              </a:rPr>
              <a:t># 1. Clone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git clone https://github.com/kkkashan/LISA_MCP_Server.git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2. Install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cd LISA_MCP_Server &amp;&amp; pip install -e .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3. Use with any MCP client</a:t>
            </a:r>
          </a:p>
          <a:p>
            <a:r>
              <a:rPr sz="1400">
                <a:solidFill>
                  <a:srgbClr val="DCDCDC"/>
                </a:solidFill>
                <a:latin typeface="Consolas"/>
              </a:rPr>
              <a:t>#    VS Code  -&gt;  Command Palette  -&gt;  MCP: Start Server  -&gt;  lisa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40480"/>
            <a:ext cx="11064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600">
                <a:solidFill>
                  <a:srgbClr val="323130"/>
                </a:solidFill>
                <a:latin typeface="Segoe UI"/>
              </a:rPr>
              <a:t>No cloud deployment for the server itself.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600">
                <a:solidFill>
                  <a:srgbClr val="323130"/>
                </a:solidFill>
                <a:latin typeface="Segoe UI"/>
              </a:rPr>
              <a:t>No API keys required for discovery / generation / execution.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600">
                <a:solidFill>
                  <a:srgbClr val="323130"/>
                </a:solidFill>
                <a:latin typeface="Segoe UI"/>
              </a:rPr>
              <a:t>LLM analysis works with Azure OpenAI today, or any OpenAI-compatible endpoint.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6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600">
                <a:solidFill>
                  <a:srgbClr val="323130"/>
                </a:solidFill>
                <a:latin typeface="Segoe UI"/>
              </a:rPr>
              <a:t>Already shipped: .vscode/mcp.json auto-registers in any VS Code workspace.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8872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LISA MCP Server  ·  AI-Powered Linux Quality at Microsoft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48640"/>
            <a:ext cx="164592" cy="50292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114300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004578"/>
                </a:solidFill>
                <a:latin typeface="Segoe UI"/>
              </a:rPr>
              <a:t>Call 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64592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For Engineering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Pilot with a Linux validation team this sprint.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Integrate into existing CI/CD pipelines.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Measure reduction in triage time (target: ≥ 80%).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80360"/>
            <a:ext cx="164592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For Product &amp; Partner Teams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Enable partner self-service testing.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Use AI-generated reports for stakeholder communication.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Standardize on MCP for future AI-tool integrations.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164592" cy="1508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600" b="1">
                <a:solidFill>
                  <a:srgbClr val="004578"/>
                </a:solidFill>
                <a:latin typeface="Segoe UI"/>
              </a:rPr>
              <a:t>For the Broader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Reference architecture for AI-augmented engineering workflows.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Extend the pattern to Windows, .NET, Azure SDKs, and beyond.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Segoe UI"/>
              </a:rPr>
              <a:t>▸  </a:t>
            </a:r>
            <a:r>
              <a:rPr sz="1300">
                <a:solidFill>
                  <a:srgbClr val="323130"/>
                </a:solidFill>
                <a:latin typeface="Segoe UI"/>
              </a:rPr>
              <a:t>Contribute back upstream — grow the MCP and LISA ecosystems.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7315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>
                <a:solidFill>
                  <a:srgbClr val="323130"/>
                </a:solidFill>
                <a:latin typeface="Segoe UI"/>
              </a:rPr>
              <a:t>github.com/kkkashan/LISA_MCP_Server  ·  MIT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1000" b="1">
                <a:solidFill>
                  <a:srgbClr val="0078D4"/>
                </a:solidFill>
                <a:latin typeface="Segoe U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0624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Segoe UI"/>
              </a:rPr>
              <a:t>LISA MCP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0">
                <a:solidFill>
                  <a:srgbClr val="E5F1FB"/>
                </a:solidFill>
                <a:latin typeface="Segoe UI"/>
              </a:rPr>
              <a:t>AI × Linux Quality × Developer Productivity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332720" cy="2194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91840"/>
            <a:ext cx="137160" cy="2194560"/>
          </a:xfrm>
          <a:prstGeom prst="rect">
            <a:avLst/>
          </a:prstGeom>
          <a:solidFill>
            <a:srgbClr val="E5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10058400" cy="20116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000" b="0">
                <a:solidFill>
                  <a:srgbClr val="004578"/>
                </a:solidFill>
                <a:latin typeface="Segoe UI"/>
              </a:rPr>
              <a:t>"The best testing tool is the one engineers actually use.</a:t>
            </a:r>
          </a:p>
          <a:p>
            <a:pPr algn="l"/>
            <a:r>
              <a:rPr sz="2000" b="0">
                <a:solidFill>
                  <a:srgbClr val="004578"/>
                </a:solidFill>
                <a:latin typeface="Segoe UI"/>
              </a:rPr>
              <a:t>With AI, they don't even need to know it exists —</a:t>
            </a:r>
          </a:p>
          <a:p>
            <a:pPr algn="l"/>
            <a:r>
              <a:rPr sz="2000" b="0">
                <a:solidFill>
                  <a:srgbClr val="004578"/>
                </a:solidFill>
                <a:latin typeface="Segoe UI"/>
              </a:rPr>
              <a:t>they just describe what they want."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1">
                <a:solidFill>
                  <a:srgbClr val="E5F1FB"/>
                </a:solidFill>
                <a:latin typeface="Segoe UI"/>
              </a:rPr>
              <a:t>github.com/kkkashan/LISA_MCP_Server   ·   MIT License   ·   Built on 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